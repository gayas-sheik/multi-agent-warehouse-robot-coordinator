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23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1831" y="1069846"/>
            <a:ext cx="11184280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FFFFFF"/>
                </a:solidFill>
                <a:latin typeface="Aptos Display"/>
              </a:rPr>
              <a:t>MULTI-AGENT WAREHOUSE</a:t>
            </a:r>
            <a:r>
              <a:rPr lang="en-IN" sz="3400" b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400" b="1" dirty="0">
                <a:solidFill>
                  <a:srgbClr val="FFFFFF"/>
                </a:solidFill>
                <a:latin typeface="Aptos Display"/>
              </a:rPr>
              <a:t>ROBOT COORDINATOR</a:t>
            </a:r>
            <a:endParaRPr lang="en-IN" sz="3400" b="1" dirty="0">
              <a:solidFill>
                <a:srgbClr val="FFFFFF"/>
              </a:solidFill>
              <a:latin typeface="Aptos Display"/>
            </a:endParaRPr>
          </a:p>
          <a:p>
            <a:endParaRPr lang="en-IN" sz="3400" b="1" dirty="0">
              <a:solidFill>
                <a:srgbClr val="FFFFFF"/>
              </a:solidFill>
              <a:latin typeface="Aptos Display"/>
            </a:endParaRPr>
          </a:p>
          <a:p>
            <a:r>
              <a:rPr sz="3400" b="1" dirty="0">
                <a:solidFill>
                  <a:srgbClr val="FFFFFF"/>
                </a:solidFill>
                <a:latin typeface="Aptos Display"/>
              </a:rPr>
              <a:t>Foundations of Artificial Intelligence —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3429000"/>
            <a:ext cx="4709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chemeClr val="bg1"/>
                </a:solidFill>
                <a:latin typeface="Aptos"/>
              </a:rPr>
              <a:t>Team Members</a:t>
            </a:r>
          </a:p>
          <a:p>
            <a:pPr>
              <a:spcBef>
                <a:spcPts val="600"/>
              </a:spcBef>
            </a:pPr>
            <a:r>
              <a:rPr sz="1400" b="0" dirty="0">
                <a:solidFill>
                  <a:schemeClr val="bg1"/>
                </a:solidFill>
                <a:latin typeface="Aptos"/>
              </a:rPr>
              <a:t>Vijay Krishna CB.SC.U4CSE23112
Gayas Sheik CB.SC.U4CSE23118
Sai Jeevan CB.SC.U4CSE23124
Manish CB.SC.U4CSE23125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1" y="1855124"/>
            <a:ext cx="9622595" cy="45719"/>
          </a:xfrm>
          <a:prstGeom prst="rect">
            <a:avLst/>
          </a:prstGeom>
          <a:solidFill>
            <a:srgbClr val="487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Multiple autonomous robots must operate in the same warehouse environment.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Robots need to select tasks, navigate around obstacles, and share workspace safely.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Robot failure can interrupt package delivery unless affected tasks are recovered and reassigned.</a:t>
            </a:r>
          </a:p>
          <a:p>
            <a:pPr>
              <a:spcAft>
                <a:spcPts val="1000"/>
              </a:spcAft>
              <a:defRPr sz="20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The project demonstrates these multi-agent coordination challenges in a controlled visual simulation.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79962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Develop a multi-agent warehouse robot simulation.</a:t>
            </a:r>
          </a:p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Automatically allocate package-delivery tasks to available robots.</a:t>
            </a:r>
          </a:p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Use A* search for grid-based pathfinding with obstacle avoidance.</a:t>
            </a:r>
          </a:p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Prevent robots from entering cells occupied by other active robots.</a:t>
            </a:r>
          </a:p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Support package recovery and reassignment following robot failure.</a:t>
            </a:r>
          </a:p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Allow continued operation when up to three robots fail.</a:t>
            </a:r>
          </a:p>
          <a:p>
            <a:pPr>
              <a:spcAft>
                <a:spcPts val="1000"/>
              </a:spcAft>
              <a:defRPr sz="1900">
                <a:solidFill>
                  <a:srgbClr val="20262E"/>
                </a:solidFill>
                <a:latin typeface="Aptos"/>
              </a:defRPr>
            </a:pPr>
            <a:r>
              <a:rPr b="0" dirty="0">
                <a:solidFill>
                  <a:srgbClr val="232A34"/>
                </a:solidFill>
                <a:latin typeface="Aptos"/>
              </a:rPr>
              <a:t>Provide a visual dashboard for monitoring robot and package activity.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PEAS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88820"/>
            <a:ext cx="53949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35124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Performance Measure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Successful delivery, task completion, safe navigation, continued operation after failures, package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88820"/>
            <a:ext cx="53949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135124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Environment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25 × 25 grid warehouse with free cells, shelves/obstacles, pickup locations and delivery 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9326"/>
            <a:ext cx="53949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0563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2A34"/>
                </a:solidFill>
                <a:latin typeface="Aptos"/>
              </a:rPr>
              <a:t>Actuators</a:t>
            </a:r>
          </a:p>
          <a:p>
            <a:pPr>
              <a:spcBef>
                <a:spcPts val="600"/>
              </a:spcBef>
            </a:pPr>
            <a:r>
              <a:rPr sz="1250" b="0" dirty="0">
                <a:solidFill>
                  <a:srgbClr val="232A34"/>
                </a:solidFill>
                <a:latin typeface="Aptos"/>
              </a:rPr>
              <a:t>Robot movement between adjacent valid grid cells; pickup and delivery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9326"/>
            <a:ext cx="53949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80563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2A34"/>
                </a:solidFill>
                <a:latin typeface="Aptos"/>
              </a:rPr>
              <a:t>Sensors / State Information</a:t>
            </a:r>
          </a:p>
          <a:p>
            <a:pPr>
              <a:spcBef>
                <a:spcPts val="600"/>
              </a:spcBef>
            </a:pPr>
            <a:r>
              <a:rPr sz="1250" b="0" dirty="0">
                <a:solidFill>
                  <a:srgbClr val="232A34"/>
                </a:solidFill>
                <a:latin typeface="Aptos"/>
              </a:rPr>
              <a:t>Robot position/state, package position/status, obstacle/grid information, and positions of other active robots.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Environment &amp;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Warehouse Environment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25 × 25 grid
Free cells = traversable floor
Blocked cells = shelves / obstacles
Packages have pickup and delivery coordinates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563624"/>
            <a:ext cx="4892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Robot Agents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5 robot agents
Position, current task and path
Operational / failure state
Completed tasks, distance and replanning 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108356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9624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Package Lifecycle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WAITING → ASSIGNED → PICKED UP → DELIVERED
Robot failure after pickup → DROPPED → recovered by another active robot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main.py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Simulation entry point
Control loop &amp;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63624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coordinator.py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Task allocation
Robot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563624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robot.py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Robot behavior
A* pathfinding &amp; replanning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300984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environment.py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Warehouse grid
Obstacles, packages, 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15468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300984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recovery.py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Failure handling
Recovery, reassignment, statistics/UI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15468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300984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Integration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Modules communicate through the simulation loop and shared environment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432649"/>
            <a:ext cx="1664208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78953"/>
            <a:ext cx="125272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1. Initialize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Warehouse
Robots
Packages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432649"/>
            <a:ext cx="1664208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70048" y="2578953"/>
            <a:ext cx="125272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2. Allocate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Waiting / dropped
packages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2432649"/>
            <a:ext cx="1664208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2578953"/>
            <a:ext cx="125272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3. Plan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A* path
obstacle avoidance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432649"/>
            <a:ext cx="1664208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2578953"/>
            <a:ext cx="125272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4. Execute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Move → pickup → delivery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2" y="2432649"/>
            <a:ext cx="1664208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2578953"/>
            <a:ext cx="125272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5. Recover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Failure → recovery → reassignment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2432649"/>
            <a:ext cx="1664208" cy="23774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0" y="2578953"/>
            <a:ext cx="125272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6. Continue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Update statistics
repeat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Algorithms &amp; Search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098807"/>
            <a:ext cx="53949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45111"/>
            <a:ext cx="498348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2A34"/>
                </a:solidFill>
                <a:latin typeface="Aptos"/>
              </a:rPr>
              <a:t>A* Pathfinding</a:t>
            </a:r>
          </a:p>
          <a:p>
            <a:pPr>
              <a:spcBef>
                <a:spcPts val="600"/>
              </a:spcBef>
            </a:pPr>
            <a:r>
              <a:rPr sz="1250" b="0" dirty="0">
                <a:solidFill>
                  <a:srgbClr val="232A34"/>
                </a:solidFill>
                <a:latin typeface="Aptos"/>
              </a:rPr>
              <a:t>f(n) = g(n) + h(n)
h(n) = Manhattan distance
Four-direction movement; obstacle cells excluded; temporary robot blockages can be included.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98807"/>
            <a:ext cx="539496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245111"/>
            <a:ext cx="4983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Task Allocation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Find idle, active, non-failed robots.
Prioritize DROPPED packages before WAITING packages.
Select a suitable robot using Manhattan distance.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84807"/>
            <a:ext cx="5394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31111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2A34"/>
                </a:solidFill>
                <a:latin typeface="Aptos"/>
              </a:rPr>
              <a:t>Collision Handling</a:t>
            </a:r>
          </a:p>
          <a:p>
            <a:pPr>
              <a:spcBef>
                <a:spcPts val="600"/>
              </a:spcBef>
            </a:pPr>
            <a:r>
              <a:rPr sz="1250" b="0" dirty="0">
                <a:solidFill>
                  <a:srgbClr val="232A34"/>
                </a:solidFill>
                <a:latin typeface="Aptos"/>
              </a:rPr>
              <a:t>Check other active robot positions before movement. If the intended cell is occupied, treat it as a temporary blockage and recalculate a path.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384807"/>
            <a:ext cx="539496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531111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Failure Recovery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Mark failed robot inactive; recover affected package; reassign to another active robot.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Multi-Agent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  <a:latin typeface="Aptos"/>
              </a:defRPr>
            </a:pPr>
            <a:r>
              <a:rPr b="0">
                <a:solidFill>
                  <a:srgbClr val="232A34"/>
                </a:solidFill>
                <a:latin typeface="Aptos"/>
              </a:rPr>
              <a:t>Coordinator checks for available WAITING and DROPPED packages.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  <a:latin typeface="Aptos"/>
              </a:defRPr>
            </a:pPr>
            <a:r>
              <a:rPr b="0">
                <a:solidFill>
                  <a:srgbClr val="232A34"/>
                </a:solidFill>
                <a:latin typeface="Aptos"/>
              </a:rPr>
              <a:t>Only active, non-failed robots are considered for new assignments.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  <a:latin typeface="Aptos"/>
              </a:defRPr>
            </a:pPr>
            <a:r>
              <a:rPr b="0">
                <a:solidFill>
                  <a:srgbClr val="232A34"/>
                </a:solidFill>
                <a:latin typeface="Aptos"/>
              </a:rPr>
              <a:t>Robot selection uses distance to the relevant package location.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  <a:latin typeface="Aptos"/>
              </a:defRPr>
            </a:pPr>
            <a:r>
              <a:rPr b="0">
                <a:solidFill>
                  <a:srgbClr val="232A34"/>
                </a:solidFill>
                <a:latin typeface="Aptos"/>
              </a:rPr>
              <a:t>Robots operate concurrently in the shared warehouse grid.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  <a:latin typeface="Aptos"/>
              </a:defRPr>
            </a:pPr>
            <a:r>
              <a:rPr b="0">
                <a:solidFill>
                  <a:srgbClr val="232A34"/>
                </a:solidFill>
                <a:latin typeface="Aptos"/>
              </a:rPr>
              <a:t>Before movement, robots consider positions of other active robots.</a:t>
            </a:r>
          </a:p>
          <a:p>
            <a:pPr>
              <a:spcAft>
                <a:spcPts val="1000"/>
              </a:spcAft>
              <a:defRPr sz="1700">
                <a:solidFill>
                  <a:srgbClr val="20262E"/>
                </a:solidFill>
                <a:latin typeface="Aptos"/>
              </a:defRPr>
            </a:pPr>
            <a:r>
              <a:rPr b="0">
                <a:solidFill>
                  <a:srgbClr val="232A34"/>
                </a:solidFill>
                <a:latin typeface="Aptos"/>
              </a:rPr>
              <a:t>Temporary blockage can trigger path recalculation.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4023360" cy="29718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1975104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Coordination Loop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WAITING / DROPPED PACKAGE
↓
Find active idle robots
↓
Compare Manhattan distances
↓
Assign suitable robot
↓
A* navigation + movement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Robot Failure &amp; Package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63624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Failure Before Pickup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Robot → FAILED
Package returns to recoverable WAITING state at pickup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63624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Failure After Pickup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Robot → FAILED
Package → DROPPED at the failure location used by the recovery mechanism.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204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63624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Recovery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Coordinator assigns the affected package to another active robot.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3657600"/>
            <a:ext cx="72237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7480" y="3803904"/>
            <a:ext cx="6812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Failure Scope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Maximum of three robot failures are supported during one simulation.
A fourth simultaneous robot failure is outside the defined project scope.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Implementation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Python 3.10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Core simulation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17904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Pygame 2.6.1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Simulation, visualization, controls and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17904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A* Search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Robot navigation and pathfinding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32938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079242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2A34"/>
                </a:solidFill>
                <a:latin typeface="Aptos"/>
              </a:rPr>
              <a:t>VS Code</a:t>
            </a:r>
          </a:p>
          <a:p>
            <a:pPr>
              <a:spcBef>
                <a:spcPts val="600"/>
              </a:spcBef>
            </a:pPr>
            <a:r>
              <a:rPr sz="1250" b="0" dirty="0">
                <a:solidFill>
                  <a:srgbClr val="232A34"/>
                </a:solidFill>
                <a:latin typeface="Aptos"/>
              </a:rPr>
              <a:t>Development and code editing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926080"/>
            <a:ext cx="33832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072384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Conda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Python environment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108813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626864"/>
            <a:ext cx="10469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Source Structure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main.py • environment.py • robot.py • coordinator.py • recovery.py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1"/>
                </a:solidFill>
                <a:latin typeface="Aptos Display"/>
              </a:rPr>
              <a:t>Results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C7A"/>
                </a:solidFill>
                <a:latin typeface="Aptos"/>
              </a:rPr>
              <a:t>Observed capabilities of the implemented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388620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664208"/>
            <a:ext cx="2971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1F31"/>
                </a:solidFill>
                <a:latin typeface="Aptos"/>
              </a:rPr>
              <a:t>Normal Operation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232A34"/>
                </a:solidFill>
                <a:latin typeface="Aptos"/>
              </a:rPr>
              <a:t>• Five robots operate concurrently
• Packages are assigned automatically
• A* navigation avoids warehouse obstacles
• Pickup and delivery tasks execute through the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417320"/>
            <a:ext cx="3474720" cy="388620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664208"/>
            <a:ext cx="2971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1F31"/>
                </a:solidFill>
                <a:latin typeface="Aptos"/>
              </a:rPr>
              <a:t>Failure Recovery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232A34"/>
                </a:solidFill>
                <a:latin typeface="Aptos"/>
              </a:rPr>
              <a:t>• Failed robot becomes inactive
• Affected package is recovered
• Coordinator makes the task available again
• Another active robot can continue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417320"/>
            <a:ext cx="3474720" cy="388620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664208"/>
            <a:ext cx="2971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1F31"/>
                </a:solidFill>
                <a:latin typeface="Aptos"/>
              </a:rPr>
              <a:t>Live Dashboard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232A34"/>
                </a:solidFill>
                <a:latin typeface="Aptos"/>
              </a:rPr>
              <a:t>• Robot status
• Task counts
• Distance travelled
• Assignments and replanning
• Package states
• Robot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25568F"/>
                </a:solidFill>
                <a:latin typeface="Aptos"/>
              </a:rPr>
              <a:t>Live demo: normal operation  →  robot failure  →  package recovery  →  continued operation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F31"/>
                </a:solidFill>
                <a:latin typeface="Aptos Display"/>
              </a:rPr>
              <a:t>Testing &amp; Validation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C7A"/>
                </a:solidFill>
                <a:latin typeface="Aptos"/>
              </a:rPr>
              <a:t>Detailed procedures and observations are maintained in the separate Testing &amp; Validation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21407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Normal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121407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121407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A* pathfinding &amp; obstacle avoidance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2121407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61488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871216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Multi-agent collision avoidance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871216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61488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871216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Robot failure before pickup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2871216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11296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21024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Robot failure after pickup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621024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511296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621024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Package recovery &amp; reassignment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3621024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61104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Three robot 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3708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61104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370832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Pause / 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4370832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10912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120640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Reset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1206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010912"/>
            <a:ext cx="5166360" cy="548640"/>
          </a:xfrm>
          <a:prstGeom prst="roundRect">
            <a:avLst/>
          </a:prstGeom>
          <a:solidFill>
            <a:srgbClr val="F6F8FB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251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A34"/>
                </a:solidFill>
                <a:latin typeface="Aptos"/>
              </a:rPr>
              <a:t>End-to-end simulation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51206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07957"/>
                </a:solidFill>
                <a:latin typeface="Aptos"/>
              </a:rPr>
              <a:t>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0">
                <a:solidFill>
                  <a:srgbClr val="232A34"/>
                </a:solidFill>
                <a:latin typeface="Aptos"/>
              </a:rPr>
              <a:t>Limitations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Current Limitations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• Fixed simulated grid
• Discrete grid-cell movement
• Maximum of three robot failures
• No physical sensors or hardware
• No real-world localization
• Actual collision-triggered replanning was not specifically observed during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3566160"/>
          </a:xfrm>
          <a:prstGeom prst="roundRect">
            <a:avLst/>
          </a:prstGeom>
          <a:solidFill>
            <a:srgbClr val="F4F7FA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72184"/>
            <a:ext cx="4892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32A34"/>
                </a:solidFill>
                <a:latin typeface="Aptos"/>
              </a:rPr>
              <a:t>Future Enhancements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232A34"/>
                </a:solidFill>
                <a:latin typeface="Aptos"/>
              </a:rPr>
              <a:t>• Physical robots / robotics simulator
• Real-time sensors and localization
• More advanced task allocation
• Robot repair and reintegration
• Larger warehouse and robot fleet
• Richer traffic management
• Performance benchmarking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155" y="776412"/>
            <a:ext cx="3287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chemeClr val="bg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32" y="2495336"/>
            <a:ext cx="10404964" cy="10874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1600" b="0" dirty="0">
                <a:solidFill>
                  <a:schemeClr val="bg1"/>
                </a:solidFill>
                <a:latin typeface="Aptos"/>
              </a:rPr>
              <a:t>The project demonstrates a modular multi-agent approach to warehouse task execution.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1600" b="0" dirty="0">
                <a:solidFill>
                  <a:schemeClr val="bg1"/>
                </a:solidFill>
                <a:latin typeface="Aptos"/>
              </a:rPr>
              <a:t>It combines task allocation, A* pathfinding, obstacle avoidance, multi-robot operation and failure recovery.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1600" b="0" dirty="0">
                <a:solidFill>
                  <a:schemeClr val="bg1"/>
                </a:solidFill>
                <a:latin typeface="Aptos"/>
              </a:rPr>
              <a:t>The visual simulation provides a controlled demonstration of multi-agent coordination and search-based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0566" y="4983480"/>
            <a:ext cx="53060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0" dirty="0">
                <a:solidFill>
                  <a:schemeClr val="bg1"/>
                </a:solidFill>
                <a:latin typeface="Aptos"/>
              </a:rPr>
              <a:t>Thank You  • 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1095</Words>
  <Application>Microsoft Office PowerPoint</Application>
  <PresentationFormat>Widescreen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Lt. 07</dc:creator>
  <cp:keywords/>
  <dc:description>generated using python-pptx</dc:description>
  <cp:lastModifiedBy>Lt. 07</cp:lastModifiedBy>
  <cp:revision>4</cp:revision>
  <dcterms:created xsi:type="dcterms:W3CDTF">2013-01-27T09:14:16Z</dcterms:created>
  <dcterms:modified xsi:type="dcterms:W3CDTF">2026-09-30T19:12:26Z</dcterms:modified>
  <cp:category/>
</cp:coreProperties>
</file>